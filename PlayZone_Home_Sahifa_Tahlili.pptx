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-502920"/>
            <a:ext cx="5212080" cy="7498079"/>
          </a:xfrm>
          <a:prstGeom prst="roundRect">
            <a:avLst>
              <a:gd name="adj" fmla="val 12000"/>
            </a:avLst>
          </a:prstGeom>
          <a:solidFill>
            <a:srgbClr val="0A1223"/>
          </a:solidFill>
          <a:ln>
            <a:solidFill>
              <a:srgbClr val="0A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8784" y="1188720"/>
            <a:ext cx="2331720" cy="2331720"/>
          </a:xfrm>
          <a:prstGeom prst="roundRect">
            <a:avLst>
              <a:gd name="adj" fmla="val 12000"/>
            </a:avLst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0" y="1426464"/>
            <a:ext cx="2258568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020617"/>
                </a:solidFill>
                <a:latin typeface="Aptos"/>
              </a:rPr>
              <a:t>PZ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24927" y="4069080"/>
            <a:ext cx="1417320" cy="429768"/>
          </a:xfrm>
          <a:prstGeom prst="roundRect">
            <a:avLst>
              <a:gd name="adj" fmla="val 12000"/>
            </a:avLst>
          </a:prstGeom>
          <a:solidFill>
            <a:srgbClr val="111B31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43800" y="4206240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44967" y="4169664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PlayStation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3730752"/>
            <a:ext cx="1417320" cy="429768"/>
          </a:xfrm>
          <a:prstGeom prst="roundRect">
            <a:avLst>
              <a:gd name="adj" fmla="val 12000"/>
            </a:avLst>
          </a:prstGeom>
          <a:solidFill>
            <a:srgbClr val="111B31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7232" y="3867912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3831336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Stadion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4736592"/>
            <a:ext cx="1417320" cy="429768"/>
          </a:xfrm>
          <a:prstGeom prst="roundRect">
            <a:avLst>
              <a:gd name="adj" fmla="val 12000"/>
            </a:avLst>
          </a:prstGeom>
          <a:solidFill>
            <a:srgbClr val="111B31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11896" y="4873752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C084FC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3064" y="4837176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Billiard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4617720"/>
            <a:ext cx="1417320" cy="429768"/>
          </a:xfrm>
          <a:prstGeom prst="roundRect">
            <a:avLst>
              <a:gd name="adj" fmla="val 12000"/>
            </a:avLst>
          </a:prstGeom>
          <a:solidFill>
            <a:srgbClr val="111B31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68712" y="4754880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69880" y="4718304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PC Club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758952"/>
            <a:ext cx="91440" cy="256032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731520"/>
            <a:ext cx="5120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C15"/>
                </a:solidFill>
                <a:latin typeface="Aptos"/>
              </a:rPr>
              <a:t>PLAYZONE.UZ  ·  KOD TAHLILI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554480"/>
            <a:ext cx="653796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8FAFC"/>
                </a:solidFill>
                <a:latin typeface="Aptos"/>
              </a:rPr>
              <a:t>Bosh sahifa
qanday ishlaydi?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182112"/>
            <a:ext cx="603504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B2C6"/>
                </a:solidFill>
                <a:latin typeface="Aptos"/>
              </a:rPr>
              <a:t>React komponentlari, navigatsiya, UI holatlari va reyting API oqimini kod asosida tushuntirish.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5968"/>
            <a:ext cx="1024128" cy="292608"/>
          </a:xfrm>
          <a:prstGeom prst="roundRect">
            <a:avLst>
              <a:gd name="adj" fmla="val 12000"/>
            </a:avLst>
          </a:prstGeom>
          <a:solidFill>
            <a:srgbClr val="18243A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334255"/>
            <a:ext cx="9509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ACC15"/>
                </a:solidFill>
                <a:latin typeface="Aptos"/>
              </a:rPr>
              <a:t>12 SLAYD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01952" y="4315968"/>
            <a:ext cx="1133856" cy="292608"/>
          </a:xfrm>
          <a:prstGeom prst="roundRect">
            <a:avLst>
              <a:gd name="adj" fmla="val 12000"/>
            </a:avLst>
          </a:prstGeom>
          <a:solidFill>
            <a:srgbClr val="18243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8528" y="4334255"/>
            <a:ext cx="106070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8BDF8"/>
                </a:solidFill>
                <a:latin typeface="Aptos"/>
              </a:rPr>
              <a:t>FRONTEND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4315968"/>
            <a:ext cx="777240" cy="292608"/>
          </a:xfrm>
          <a:prstGeom prst="roundRect">
            <a:avLst>
              <a:gd name="adj" fmla="val 12000"/>
            </a:avLst>
          </a:prstGeom>
          <a:solidFill>
            <a:srgbClr val="18243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2112" y="4334255"/>
            <a:ext cx="7040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2648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B91"/>
                </a:solidFill>
                <a:latin typeface="Aptos"/>
              </a:rPr>
              <a:t>Manba: frontend/src/pages/Home.jsx va unga bog‘langan komponentlar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01 · SAHIFANING O‘RNI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Bosh sahifa ilovaga qanday ulanadi?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Home alohida HTML sahifa emas: React ilovasining route’i ichida ko‘rsatiladigan komponent.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74519"/>
            <a:ext cx="5257800" cy="2148840"/>
          </a:xfrm>
          <a:prstGeom prst="roundRect">
            <a:avLst>
              <a:gd name="adj" fmla="val 12000"/>
            </a:avLst>
          </a:prstGeom>
          <a:solidFill>
            <a:srgbClr val="080E1D"/>
          </a:solidFill>
          <a:ln>
            <a:solidFill>
              <a:srgbClr val="29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4946904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CODE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3"/>
            <a:ext cx="4965192" cy="1746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DE7F6"/>
                </a:solidFill>
                <a:latin typeface="DejaVu Sans Mono"/>
              </a:rPr>
              <a:t>// main.jsx
&lt;BrowserRouter&gt;
  &lt;AuthProvider&gt;
    &lt;App /&gt;
  &lt;/AuthProvider&gt;
&lt;/BrowserRouter&gt;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080E1D"/>
          </a:solidFill>
          <a:ln>
            <a:solidFill>
              <a:srgbClr val="29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5038344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CODE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203703"/>
            <a:ext cx="5056631" cy="1746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DE7F6"/>
                </a:solidFill>
                <a:latin typeface="DejaVu Sans Mono"/>
              </a:rPr>
              <a:t>// App.jsx → PublicShell
&lt;Navbar /&gt;
&lt;main&gt;
  &lt;Routes&gt;
    &lt;Route index element={&lt;Home /&gt;} /&gt;
  &lt;/Routes&gt;
&lt;/main&gt;
&lt;Footer /&gt;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315968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498848"/>
            <a:ext cx="64008" cy="105156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480559"/>
            <a:ext cx="29077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URL: 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882896"/>
            <a:ext cx="2907792" cy="7223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Index route Home’ni PublicShell ichida render qiladi.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3672" y="4315968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498848"/>
            <a:ext cx="64008" cy="10515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4480559"/>
            <a:ext cx="290779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Umumiy qobiq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4882896"/>
            <a:ext cx="2907791" cy="7223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Navbar, asosiy kontent va Footer birgalikda chiqadi.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5552" y="4315968"/>
            <a:ext cx="3675887" cy="141732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4498848"/>
            <a:ext cx="64008" cy="105156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4480559"/>
            <a:ext cx="3182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Xarita: /map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4882896"/>
            <a:ext cx="3182112" cy="7223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ProtectedRoute bilan himoyalangan; bosh sahifadagi CTA shu yo‘lga olib borishi mumkin.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02 · KOMPONENT TUZILISHI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Home.jsx — bo‘limlarni birlashtiruvchi sahifa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Sahifa tartibi deklarativ: React komponentlarni ketma-ket render qiladi.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03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47088"/>
            <a:ext cx="5394960" cy="3063240"/>
          </a:xfrm>
          <a:prstGeom prst="roundRect">
            <a:avLst>
              <a:gd name="adj" fmla="val 12000"/>
            </a:avLst>
          </a:prstGeom>
          <a:solidFill>
            <a:srgbClr val="080E1D"/>
          </a:solidFill>
          <a:ln>
            <a:solidFill>
              <a:srgbClr val="29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5084064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CODE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5102352" cy="2660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DE7F6"/>
                </a:solidFill>
                <a:latin typeface="DejaVu Sans Mono"/>
              </a:rPr>
              <a:t>export default function Home() {
  return (
    &lt;div&gt;
      &lt;Hero /&gt;
      &lt;section id="how"&gt;...&lt;/section&gt;
      &lt;section id="categories"&gt;...&lt;/section&gt;
      &lt;section id="about"&gt;...&lt;/section&gt;
    &lt;/div&gt;
  );
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74519"/>
            <a:ext cx="5166360" cy="94183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0528" y="2057400"/>
            <a:ext cx="64008" cy="576072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2039112"/>
            <a:ext cx="46725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1. 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441448"/>
            <a:ext cx="467258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2C6"/>
                </a:solidFill>
                <a:latin typeface="Aptos"/>
              </a:rPr>
              <a:t>Birinchi taassurot, taklif va asosiy CTA.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980944"/>
            <a:ext cx="5166360" cy="94183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0528" y="3163824"/>
            <a:ext cx="64008" cy="57607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4" y="3145536"/>
            <a:ext cx="46725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2. Qanday ishlaydi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3547872"/>
            <a:ext cx="467258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2C6"/>
                </a:solidFill>
                <a:latin typeface="Aptos"/>
              </a:rPr>
              <a:t>Uch bosqichli foydalanish oqimi.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087368"/>
            <a:ext cx="5166360" cy="94183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10528" y="4270248"/>
            <a:ext cx="64008" cy="576072"/>
          </a:xfrm>
          <a:prstGeom prst="rect">
            <a:avLst/>
          </a:prstGeom>
          <a:solidFill>
            <a:srgbClr val="C084FC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4251959"/>
            <a:ext cx="46725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3. Kategoriyalar + Biz haqimizda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4264" y="4654296"/>
            <a:ext cx="467258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2C6"/>
                </a:solidFill>
                <a:latin typeface="Aptos"/>
              </a:rPr>
              <a:t>Turkumlar va platforma qiymati.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285232"/>
            <a:ext cx="47365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C15"/>
                </a:solidFill>
                <a:latin typeface="Aptos"/>
              </a:rPr>
              <a:t>Navbar / Footer App.jsx dagi PublicShell’da — Home ichida emas.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03 · NAVIGATSIYA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Navbar foydalanuvchi holatiga moslashadi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Komponent navigatsiya, mobil menyu va autentifikatsiya holatini bitta joyda boshqaradi.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04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47088"/>
            <a:ext cx="5577840" cy="3337560"/>
          </a:xfrm>
          <a:prstGeom prst="roundRect">
            <a:avLst>
              <a:gd name="adj" fmla="val 12000"/>
            </a:avLst>
          </a:prstGeom>
          <a:solidFill>
            <a:srgbClr val="080E1D"/>
          </a:solidFill>
          <a:ln>
            <a:solidFill>
              <a:srgbClr val="29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5266944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CODE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5285231" cy="2935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DE7F6"/>
                </a:solidFill>
                <a:latin typeface="DejaVu Sans Mono"/>
              </a:rPr>
              <a:t>const [open, setOpen] = useState(false);
const { isAuthenticated, isAdmin, signOut }
  = useAuth();
{isAuthenticated ? (
  &lt;button onClick={logout}&gt;Chiqish&lt;/button&gt;
) : (
  &lt;Link to="/login"&gt;Kirish&lt;/Link&gt;
  &lt;Link to="/register"&gt;Ro‘yxatdan o‘tish&lt;/Link&gt;
)}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74519"/>
            <a:ext cx="4956048" cy="950976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47688" y="2057400"/>
            <a:ext cx="64008" cy="58521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2039112"/>
            <a:ext cx="4462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Desktop / mobil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2441448"/>
            <a:ext cx="4462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lg breakpoint’da desktop nav; kichik ekranda Menu/X tugmasi.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008376"/>
            <a:ext cx="4956048" cy="950976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47688" y="3191256"/>
            <a:ext cx="64008" cy="585216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1424" y="3172968"/>
            <a:ext cx="4462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Rolga qarab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3575304"/>
            <a:ext cx="4462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Xarita login’dan keyin, Admin esa faqat isAdmin bo‘lsa ko‘rinadi.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142232"/>
            <a:ext cx="4956048" cy="950976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47688" y="4325112"/>
            <a:ext cx="64008" cy="585216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4306824"/>
            <a:ext cx="4462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Logout oqimi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4709160"/>
            <a:ext cx="4462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signOut() bajariladi, keyin navigate("/") bilan bosh sahifaga qaytadi.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5376672"/>
            <a:ext cx="46634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Anchor link’lar #home, #how, #categories va #about ID’lariga 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04 · HERO BO‘LIMI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Hero — qiymat taklifi va asosiy ko‘rinish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Hero.jsx sahifaning yuqori qismidagi eng ko‘zga tashlanadigan blokni chizadi.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05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56231"/>
            <a:ext cx="5074920" cy="340156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12264"/>
            <a:ext cx="1152144" cy="292608"/>
          </a:xfrm>
          <a:prstGeom prst="roundRect">
            <a:avLst>
              <a:gd name="adj" fmla="val 12000"/>
            </a:avLst>
          </a:prstGeom>
          <a:solidFill>
            <a:srgbClr val="18243A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130552"/>
            <a:ext cx="107899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ACC15"/>
                </a:solidFill>
                <a:latin typeface="Aptos"/>
              </a:rPr>
              <a:t>PlayZone.uz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51760"/>
            <a:ext cx="4526280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8FAFC"/>
                </a:solidFill>
                <a:latin typeface="Aptos"/>
              </a:rPr>
              <a:t>Yaqiningdagi o‘yin joylarini bir zumda toping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803904"/>
            <a:ext cx="4407408" cy="557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6B2C6"/>
                </a:solidFill>
                <a:latin typeface="Aptos"/>
              </a:rPr>
              <a:t>Mini stadion, billiard, PC club va PlayStation markazlari.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636008"/>
            <a:ext cx="1783080" cy="292608"/>
          </a:xfrm>
          <a:prstGeom prst="roundRect">
            <a:avLst>
              <a:gd name="adj" fmla="val 12000"/>
            </a:avLst>
          </a:prstGeom>
          <a:solidFill>
            <a:srgbClr val="18243A"/>
          </a:solidFill>
          <a:ln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654296"/>
            <a:ext cx="170992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20617"/>
                </a:solidFill>
                <a:latin typeface="Aptos"/>
              </a:rPr>
              <a:t>Bepul boshlash 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856231"/>
            <a:ext cx="5321808" cy="3401568"/>
          </a:xfrm>
          <a:prstGeom prst="roundRect">
            <a:avLst>
              <a:gd name="adj" fmla="val 12000"/>
            </a:avLst>
          </a:prstGeom>
          <a:solidFill>
            <a:srgbClr val="0A1020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3383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Jonli xarita ko‘rinishi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13848" y="2057400"/>
            <a:ext cx="877824" cy="292608"/>
          </a:xfrm>
          <a:prstGeom prst="roundRect">
            <a:avLst>
              <a:gd name="adj" fmla="val 12000"/>
            </a:avLst>
          </a:prstGeom>
          <a:solidFill>
            <a:srgbClr val="18243A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50424" y="2075688"/>
            <a:ext cx="80467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ACC15"/>
                </a:solidFill>
                <a:latin typeface="Aptos"/>
              </a:rPr>
              <a:t>JONLI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2606040"/>
            <a:ext cx="10972" cy="2057400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04888" y="2606040"/>
            <a:ext cx="10972" cy="2057400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99248" y="2606040"/>
            <a:ext cx="10972" cy="2057400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93608" y="2606040"/>
            <a:ext cx="10972" cy="2057400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2606040"/>
            <a:ext cx="10972" cy="2057400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82328" y="2606040"/>
            <a:ext cx="10972" cy="2057400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76688" y="2606040"/>
            <a:ext cx="10972" cy="2057400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71048" y="2606040"/>
            <a:ext cx="10972" cy="2057400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10528" y="2606040"/>
            <a:ext cx="4206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10528" y="3108960"/>
            <a:ext cx="4206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10528" y="3611880"/>
            <a:ext cx="4206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10528" y="4114800"/>
            <a:ext cx="4206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0" y="2907792"/>
            <a:ext cx="1307592" cy="292608"/>
          </a:xfrm>
          <a:prstGeom prst="roundRect">
            <a:avLst>
              <a:gd name="adj" fmla="val 12000"/>
            </a:avLst>
          </a:prstGeom>
          <a:solidFill>
            <a:srgbClr val="18243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94576" y="2926080"/>
            <a:ext cx="1234439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Stadion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37192" y="2770632"/>
            <a:ext cx="1508760" cy="292608"/>
          </a:xfrm>
          <a:prstGeom prst="roundRect">
            <a:avLst>
              <a:gd name="adj" fmla="val 12000"/>
            </a:avLst>
          </a:prstGeom>
          <a:solidFill>
            <a:srgbClr val="18243A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3767" y="2788920"/>
            <a:ext cx="1435607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PlayStation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4078224"/>
            <a:ext cx="1307592" cy="292608"/>
          </a:xfrm>
          <a:prstGeom prst="roundRect">
            <a:avLst>
              <a:gd name="adj" fmla="val 12000"/>
            </a:avLst>
          </a:prstGeom>
          <a:solidFill>
            <a:srgbClr val="18243A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3215" y="4096511"/>
            <a:ext cx="1234439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84FC"/>
                </a:solidFill>
                <a:latin typeface="Aptos"/>
              </a:rPr>
              <a:t>Billiard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46920" y="4114800"/>
            <a:ext cx="1307592" cy="292608"/>
          </a:xfrm>
          <a:prstGeom prst="roundRect">
            <a:avLst>
              <a:gd name="adj" fmla="val 12000"/>
            </a:avLst>
          </a:prstGeom>
          <a:solidFill>
            <a:srgbClr val="18243A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83496" y="4133087"/>
            <a:ext cx="1234439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ACC15"/>
                </a:solidFill>
                <a:latin typeface="Aptos"/>
              </a:rPr>
              <a:t>PC Club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57616" y="3419856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3336" y="3456432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20617"/>
                </a:solidFill>
                <a:latin typeface="Aptos"/>
              </a:rPr>
              <a:t>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532120"/>
            <a:ext cx="10607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Katta ekranda ikki ustunli grid, kichik ekranda bir ustun; min-height viewport balandligiga moslanadi.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05 · NAVIGATSIYA OQIMI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CTA login holatiga qarab manzil tanlaydi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Hero’dagi Link route’ni to‘liq qayta yuklamasdan React Router orqali o‘zgartiradi.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06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56231"/>
            <a:ext cx="5486400" cy="1993392"/>
          </a:xfrm>
          <a:prstGeom prst="roundRect">
            <a:avLst>
              <a:gd name="adj" fmla="val 12000"/>
            </a:avLst>
          </a:prstGeom>
          <a:solidFill>
            <a:srgbClr val="080E1D"/>
          </a:solidFill>
          <a:ln>
            <a:solidFill>
              <a:srgbClr val="29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5175504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CODE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85415"/>
            <a:ext cx="5193792" cy="1591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DE7F6"/>
                </a:solidFill>
                <a:latin typeface="DejaVu Sans Mono"/>
              </a:rPr>
              <a:t>const { isAuthenticated } = useAuth();
&lt;Link to={isAuthenticated ? "/map" : "/register"}&gt;
  Bepul boshlash
&lt;/Link&gt;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1856231"/>
            <a:ext cx="4892040" cy="199339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2468880"/>
            <a:ext cx="1481328" cy="676656"/>
          </a:xfrm>
          <a:prstGeom prst="roundRect">
            <a:avLst>
              <a:gd name="adj" fmla="val 12000"/>
            </a:avLst>
          </a:prstGeom>
          <a:solidFill>
            <a:srgbClr val="111B31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4576" y="2633472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ptos"/>
              </a:rPr>
              <a:t>Kirish holati?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96528" y="2157984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153129"/>
          </a:solidFill>
          <a:ln>
            <a:solidFill>
              <a:srgbClr val="226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24544" y="2286000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Ha → /map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96528" y="2953512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322A12"/>
          </a:solidFill>
          <a:ln>
            <a:solidFill>
              <a:srgbClr val="655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4544" y="3081528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C15"/>
                </a:solidFill>
                <a:latin typeface="Aptos"/>
              </a:rPr>
              <a:t>Yo‘q → /register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24528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" y="4407408"/>
            <a:ext cx="64008" cy="86868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389120"/>
            <a:ext cx="2935223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Asosiy CTA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791456"/>
            <a:ext cx="2935223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Bepul boshlash tugmasi maqsadli yo‘nalish beradi.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4224528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25696" y="4407408"/>
            <a:ext cx="64008" cy="8686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4389120"/>
            <a:ext cx="2935223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Ikkinchi CTA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4791456"/>
            <a:ext cx="2935223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“Qanday ishlaydi” href="#how" orqali pastki bo‘limga olib boradi.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4224528"/>
            <a:ext cx="3502152" cy="123444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4" y="4407408"/>
            <a:ext cx="64008" cy="868680"/>
          </a:xfrm>
          <a:prstGeom prst="rect">
            <a:avLst/>
          </a:prstGeom>
          <a:solidFill>
            <a:srgbClr val="C084FC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389120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Auth manbasi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791456"/>
            <a:ext cx="3008376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AuthProvider boshlang‘ich holatni saqlangan auth’dan oladi.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06 · KONTENT VA VIZUAL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Raqamlar hamda markerlar qayerdan keladi?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Hero ayrim kontentni kod ichida belgilaydi; bu ma’lumotlar real hisob-kitob sifatida olinmaydi.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07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47088"/>
            <a:ext cx="5623560" cy="2514600"/>
          </a:xfrm>
          <a:prstGeom prst="roundRect">
            <a:avLst>
              <a:gd name="adj" fmla="val 12000"/>
            </a:avLst>
          </a:prstGeom>
          <a:solidFill>
            <a:srgbClr val="080E1D"/>
          </a:solidFill>
          <a:ln>
            <a:solidFill>
              <a:srgbClr val="29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38528"/>
            <a:ext cx="5312664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CODE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76272"/>
            <a:ext cx="5330952" cy="2112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DE7F6"/>
                </a:solidFill>
                <a:latin typeface="DejaVu Sans Mono"/>
              </a:rPr>
              <a:t>["Joylar bazada", "100+"],
["Kategoriyalar", "4"],
["Foydalanuvchilar", "1K+"],
["24/7", "yangilanish"]
markers.map(([label, color, pos]) =&gt; ...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874519"/>
            <a:ext cx="4828032" cy="100584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2057400"/>
            <a:ext cx="64008" cy="64008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4576" y="2039112"/>
            <a:ext cx="4334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Statistika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2441448"/>
            <a:ext cx="4334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100+, 1K+ va 24/7 — JSX array’dagi hardcoded display qiymatlar.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5392" y="3063240"/>
            <a:ext cx="4828032" cy="100584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3246120"/>
            <a:ext cx="64008" cy="6400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4576" y="3227832"/>
            <a:ext cx="4334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Kategoriya soni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3630168"/>
            <a:ext cx="4334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Home’dagi ro‘yxat 4 ta kategoriya nomidan tuzilgan.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4251960"/>
            <a:ext cx="4828032" cy="100584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4434840"/>
            <a:ext cx="64008" cy="64008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4576" y="4416552"/>
            <a:ext cx="4334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Mini-xarita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4818888"/>
            <a:ext cx="4334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4 marker CSS pozitsiyasiga ega; Hero’da xarita API’si/haqiqiy lokatsiyalar yo‘q.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773168"/>
            <a:ext cx="5166360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Ko‘rinishi interaktiv xaritaga o‘xshaydi, ammo haqiqiy xarita alohida /map sahifasida.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07 · DINAMIK REYTING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Hero’da API’dan reyting olinadi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Reyting — bosh sahifadagi ko‘rinadigan dinamik ma’lumotning aniq misoli.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08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47088"/>
            <a:ext cx="5650992" cy="3246120"/>
          </a:xfrm>
          <a:prstGeom prst="roundRect">
            <a:avLst>
              <a:gd name="adj" fmla="val 12000"/>
            </a:avLst>
          </a:prstGeom>
          <a:solidFill>
            <a:srgbClr val="080E1D"/>
          </a:solidFill>
          <a:ln>
            <a:solidFill>
              <a:srgbClr val="29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38528"/>
            <a:ext cx="5340096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CODE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76272"/>
            <a:ext cx="5358383" cy="2843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DE7F6"/>
                </a:solidFill>
                <a:latin typeface="DejaVu Sans Mono"/>
              </a:rPr>
              <a:t>useEffect(() =&gt; {
  let active = true;
  getServiceRating().then((rating) =&gt; {
    if (active) setServiceRating(rating);
  }).catch((error) =&gt; {
    if (active) setRatingError(getErrorMessage(error, ...));
  });
  window.addEventListener(EVENT_NAME, updateRating);
  return () =&gt; { active = false; removeListener(); };
}, []);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847088"/>
            <a:ext cx="4828032" cy="91440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2029968"/>
            <a:ext cx="64008" cy="5486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4576" y="2011680"/>
            <a:ext cx="4334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So‘rov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2414016"/>
            <a:ext cx="43342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2C6"/>
                </a:solidFill>
                <a:latin typeface="Aptos"/>
              </a:rPr>
              <a:t>getServiceRating() → GET /head/api/service-rating/.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5392" y="2944368"/>
            <a:ext cx="4828032" cy="91440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3127248"/>
            <a:ext cx="64008" cy="54864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4576" y="3108960"/>
            <a:ext cx="4334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Yangilanish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3511296"/>
            <a:ext cx="43342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2C6"/>
                </a:solidFill>
                <a:latin typeface="Aptos"/>
              </a:rPr>
              <a:t>playzone:service-rating-updated event’i state’ni yangilaydi.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4041648"/>
            <a:ext cx="4828032" cy="91440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4224528"/>
            <a:ext cx="64008" cy="54864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4576" y="4206240"/>
            <a:ext cx="4334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Xato va hayot sikli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4608576"/>
            <a:ext cx="43342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2C6"/>
                </a:solidFill>
                <a:latin typeface="Aptos"/>
              </a:rPr>
              <a:t>Xato matni ko‘rsatiladi; cleanup listener’ni olib tashlab, kechikkan setState’ni to‘xtatadi.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66360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2C6"/>
                </a:solidFill>
                <a:latin typeface="Aptos"/>
              </a:rPr>
              <a:t>RatingStars 0–5 diapazonini cheklaydi; qiymat 1 kasr bilan ko‘rsatiladi.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08 · “QANDAY ISHLAYDI”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Uch qadamli yo‘l array’dan render qilinadi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Home.jsx’da takrorlanuvchi kartalar bitta ma’lumot ro‘yxati va map() bilan yaratiladi.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09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47088"/>
            <a:ext cx="5577840" cy="3218688"/>
          </a:xfrm>
          <a:prstGeom prst="roundRect">
            <a:avLst>
              <a:gd name="adj" fmla="val 12000"/>
            </a:avLst>
          </a:prstGeom>
          <a:solidFill>
            <a:srgbClr val="080E1D"/>
          </a:solidFill>
          <a:ln>
            <a:solidFill>
              <a:srgbClr val="29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38528"/>
            <a:ext cx="5266944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CODE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76272"/>
            <a:ext cx="5285231" cy="2816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DE7F6"/>
                </a:solidFill>
                <a:latin typeface="DejaVu Sans Mono"/>
              </a:rPr>
              <a:t>[["Kirish", "Accountga kiring...", Gamepad2],
 ["Joylashuv", "Brauzer GPS...", Navigation],
 ["Qidirish", "Marker, filter...", Search]]
.map(([title, text, Icon]) =&gt; (
  &lt;article key={title}&gt;
    &lt;Icon /&gt;
    &lt;h3&gt;{title}&lt;/h3&gt;
    &lt;p&gt;{text}&lt;/p&gt;
  &lt;/article&gt;
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7104" y="1874519"/>
            <a:ext cx="4846320" cy="89611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02552" y="2057400"/>
            <a:ext cx="64008" cy="530352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2039112"/>
            <a:ext cx="435254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Kirish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441448"/>
            <a:ext cx="4352544" cy="2011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Accountga kiring yoki ro‘yxatdan o‘ting.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2944368"/>
            <a:ext cx="4846320" cy="89611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2552" y="3127248"/>
            <a:ext cx="64008" cy="5303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3108960"/>
            <a:ext cx="435254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Joylashuv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3511296"/>
            <a:ext cx="4352544" cy="2011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Brauzer GPS ruxsatini so‘raydi.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4" y="4014215"/>
            <a:ext cx="4846320" cy="89611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2552" y="4197096"/>
            <a:ext cx="64008" cy="530352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4178807"/>
            <a:ext cx="435254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Qidirish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581144"/>
            <a:ext cx="4352544" cy="2011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Marker, filter va qidiruv bilan joy tanlanadi.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5193792"/>
            <a:ext cx="4572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section id="how" Navbar’dagi anchor bilan bog‘langan.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09 · KATEGORIYALAR VA MA’LUMOT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Kategoriyalar — hozircha ma’lumot kartalari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Ro‘yxat Home.jsx ichida saqlanadi; bosh sahifa kartalari o‘zlari filter tugmasi emas.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47088"/>
            <a:ext cx="5532120" cy="2487168"/>
          </a:xfrm>
          <a:prstGeom prst="roundRect">
            <a:avLst>
              <a:gd name="adj" fmla="val 12000"/>
            </a:avLst>
          </a:prstGeom>
          <a:solidFill>
            <a:srgbClr val="080E1D"/>
          </a:solidFill>
          <a:ln>
            <a:solidFill>
              <a:srgbClr val="29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38528"/>
            <a:ext cx="5221224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CODE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76272"/>
            <a:ext cx="5239512" cy="2084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DE7F6"/>
                </a:solidFill>
                <a:latin typeface="DejaVu Sans Mono"/>
              </a:rPr>
              <a:t>const categories = [
  ["PlayStation", ...],
  ["Mini stadion", ...],
  ["Billiard", ...],
  ["PC Club", ...],
];
categories.map(([title, text, Icon]) =&gt; ...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1901952"/>
            <a:ext cx="2267712" cy="71323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65976" y="211226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0296" y="2066544"/>
            <a:ext cx="17007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PlayStation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901952"/>
            <a:ext cx="2267712" cy="71323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53144" y="211226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066544"/>
            <a:ext cx="17007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Mini stadion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2926080"/>
            <a:ext cx="2267712" cy="71323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65976" y="313639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4FC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3090672"/>
            <a:ext cx="17007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Billiard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2926080"/>
            <a:ext cx="2267712" cy="71323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53144" y="313639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7464" y="3090672"/>
            <a:ext cx="17007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PC Club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0528" y="4224528"/>
            <a:ext cx="4754880" cy="105156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65976" y="4407408"/>
            <a:ext cx="64008" cy="685799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389120"/>
            <a:ext cx="42611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Biz haqimizda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4791456"/>
            <a:ext cx="4261104" cy="3566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Bitta xaritada gaming va sport joylarini jamlash — platforma qiymati.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645152"/>
            <a:ext cx="50292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Xaritadagi amaliy filter va qidiruv alohida Map sahifasiga tegishli; Home faqat yo‘naltiradi va tushuntiradi.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10 · UI VA FOYDALANISH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Dizayn tizimi va semantik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Global uslublar, Tailwind utility’lari va kichik komponentlar bir xil ko‘rinishni saqlaydi.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47088"/>
            <a:ext cx="3410712" cy="117043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029968"/>
            <a:ext cx="64008" cy="804672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11680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Rang va kontrast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414016"/>
            <a:ext cx="2916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To‘q fon (#020617), oq matn va sariq urg‘u.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847088"/>
            <a:ext cx="3410712" cy="117043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2029968"/>
            <a:ext cx="64008" cy="80467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011680"/>
            <a:ext cx="2916935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Qayta foydalanish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14016"/>
            <a:ext cx="2916935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.glass, .btn, .btn-primary kabi CSS komponent klasslari.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1847088"/>
            <a:ext cx="3502152" cy="117043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5" y="2029968"/>
            <a:ext cx="64008" cy="804672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2011680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Responsive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2414016"/>
            <a:ext cx="300837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sm / md / lg breakpoint’lar bilan grid va menyu moslashadi.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37560"/>
            <a:ext cx="5349240" cy="1993392"/>
          </a:xfrm>
          <a:prstGeom prst="roundRect">
            <a:avLst>
              <a:gd name="adj" fmla="val 12000"/>
            </a:avLst>
          </a:prstGeom>
          <a:solidFill>
            <a:srgbClr val="080E1D"/>
          </a:solidFill>
          <a:ln>
            <a:solidFill>
              <a:srgbClr val="29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429000"/>
            <a:ext cx="5038344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CODE SNAPSHOT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666744"/>
            <a:ext cx="5056631" cy="1591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DE7F6"/>
                </a:solidFill>
                <a:latin typeface="DejaVu Sans Mono"/>
              </a:rPr>
              <a:t>&lt;section id="categories"&gt;
  &lt;h2&gt;...&lt;/h2&gt;
  &lt;article&gt;...&lt;/article&gt;
&lt;/section&gt;
&lt;div aria-live="polite"&gt;...&lt;/div&gt;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337560"/>
            <a:ext cx="5102352" cy="86868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2" y="3520440"/>
            <a:ext cx="64008" cy="502919"/>
          </a:xfrm>
          <a:prstGeom prst="rect">
            <a:avLst/>
          </a:prstGeom>
          <a:solidFill>
            <a:srgbClr val="C084FC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3502152"/>
            <a:ext cx="46085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Semantika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904487"/>
            <a:ext cx="4608576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2C6"/>
                </a:solidFill>
                <a:latin typeface="Aptos"/>
              </a:rPr>
              <a:t>section, article, nav, header va footer mazmuniy tuzilmani bildiradi.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784" y="4407408"/>
            <a:ext cx="5102352" cy="86868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28232" y="4590288"/>
            <a:ext cx="64008" cy="502919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4572000"/>
            <a:ext cx="46085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A11y detal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4974336"/>
            <a:ext cx="4608576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2C6"/>
                </a:solidFill>
                <a:latin typeface="Aptos"/>
              </a:rPr>
              <a:t>Reyting aria-live; footer ikonkalari aria-hidden, linklar aria-label bilan.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532120"/>
            <a:ext cx="104241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2C6"/>
                </a:solidFill>
                <a:latin typeface="Aptos"/>
              </a:rPr>
              <a:t>Footer ijtimoiy havolalarni lucide-react ikonkalari bilan chiqaradi; linklar yangi oynada ochiladi.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2286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CC15"/>
                </a:solidFill>
                <a:latin typeface="Aptos"/>
              </a:rPr>
              <a:t>11 · YAKUN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Bosh sahifa oqimi va muhim 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2C6"/>
                </a:solidFill>
                <a:latin typeface="Aptos"/>
              </a:rPr>
              <a:t>Kod hozir nimalarni bajaradi — va nimani keyingi bosqichda kuchaytirish mumkin?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243149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7B91"/>
                </a:solidFill>
                <a:latin typeface="Aptos"/>
              </a:rPr>
              <a:t>PLAYZONE.UZ  ·  HOME PAGE KOD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2C6"/>
                </a:solidFill>
                <a:latin typeface="Aptos"/>
              </a:rP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920240"/>
            <a:ext cx="2240280" cy="969264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75688"/>
            <a:ext cx="19842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ACC15"/>
                </a:solidFill>
                <a:latin typeface="Aptos"/>
              </a:rPr>
              <a:t>main.jsx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19842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2C6"/>
                </a:solidFill>
                <a:latin typeface="Aptos"/>
              </a:rPr>
              <a:t>React root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7" y="2221992"/>
            <a:ext cx="3474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7B91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920240"/>
            <a:ext cx="2240280" cy="969264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075688"/>
            <a:ext cx="19842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ACC15"/>
                </a:solidFill>
                <a:latin typeface="Aptos"/>
              </a:rPr>
              <a:t>App.jsx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14016"/>
            <a:ext cx="19842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2C6"/>
                </a:solidFill>
                <a:latin typeface="Aptos"/>
              </a:rPr>
              <a:t>route + 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1575" y="2221992"/>
            <a:ext cx="3474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7B9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920240"/>
            <a:ext cx="2240280" cy="969264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075688"/>
            <a:ext cx="19842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ACC15"/>
                </a:solidFill>
                <a:latin typeface="Aptos"/>
              </a:rPr>
              <a:t>Home.jsx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414016"/>
            <a:ext cx="19842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2C6"/>
                </a:solidFill>
                <a:latin typeface="Aptos"/>
              </a:rPr>
              <a:t>4 bo‘lim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2221992"/>
            <a:ext cx="3474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7B9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920240"/>
            <a:ext cx="2240280" cy="969264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2075688"/>
            <a:ext cx="19842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ACC15"/>
                </a:solidFill>
                <a:latin typeface="Aptos"/>
              </a:rPr>
              <a:t>Hero.jsx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14016"/>
            <a:ext cx="19842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2C6"/>
                </a:solidFill>
                <a:latin typeface="Aptos"/>
              </a:rPr>
              <a:t>CTA + rating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" y="3273552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" y="3456432"/>
            <a:ext cx="64008" cy="114300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438144"/>
            <a:ext cx="2889503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Bugungi implementatsiya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840480"/>
            <a:ext cx="2889503" cy="8138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2C6"/>
                </a:solidFill>
                <a:latin typeface="Aptos"/>
              </a:rPr>
              <a:t>Bosh sahifa — tanishtirish va yo‘naltirish. Reyting API’dan; ko‘rsatkichlar va demo markerlar statik.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9392" y="3273552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456432"/>
            <a:ext cx="64008" cy="114300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8576" y="3438144"/>
            <a:ext cx="2889503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Haqiqiy xarita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3840480"/>
            <a:ext cx="2889503" cy="8138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2C6"/>
                </a:solidFill>
                <a:latin typeface="Aptos"/>
              </a:rPr>
              <a:t>Interaktiv xarita /map sahifasida; kirish sharti ProtectedRoute bilan tekshiriladi.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82127" y="3273552"/>
            <a:ext cx="3502152" cy="150876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37575" y="3456432"/>
            <a:ext cx="64008" cy="114300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1" y="3438144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Keyingi yaxshilash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3840480"/>
            <a:ext cx="3008376" cy="8138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2C6"/>
                </a:solidFill>
                <a:latin typeface="Aptos"/>
              </a:rPr>
              <a:t>Counters’ni backend’dan olish; demo map’ni aniq belgilash; mobil/klaviatura oqimlarini testlash.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276088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2C6"/>
                </a:solidFill>
                <a:latin typeface="Aptos"/>
              </a:rPr>
              <a:t>Ko‘rilgan manbalar: frontend/src/main.jsx · App.jsx · pages/Home.jsx · components/Hero.jsx · Navbar.jsx · Footer.jsx · context/AuthContext.jsx · api/serviceRating.js · styles.css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PlayZone bosh sahifasi — kod tahlili</dc:title>
  <dc:subject>React homepage implementation walkthrough</dc:subject>
  <dc:creator>PlayZone.uz</dc:creator>
  <cp:keywords>PlayZone, Home, React, kod tahlili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